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087" autoAdjust="0"/>
  </p:normalViewPr>
  <p:slideViewPr>
    <p:cSldViewPr snapToGrid="0" snapToObjects="1">
      <p:cViewPr varScale="1">
        <p:scale>
          <a:sx n="49" d="100"/>
          <a:sy n="49" d="100"/>
        </p:scale>
        <p:origin x="151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00624-5298-42C0-8AAF-C96009F5C14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4446C-DF8A-471E-B9F0-44182EB15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1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overall workflow was to validate the data, explore it, deepen the analysis with SQL, build the management-facing Power BI view, and then translate the findings into recommendations.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42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first profiled and validated the customer and transaction datasets. I then developed the Python exploratory analysis and integrated the customer and transaction information using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used SQL to answer business questions and deepen the analysis using joins, grouping, conditional logic, common table expressions, subqueries and analytical functions.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then translated the validated metrics into a Power BI dashboard structure and developed business findings and recommendations from the evidence.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in summary, I developed the analysis, tested it, improved the technical output, finalized the findings and delivered the integrated analytical story.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90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 was used for the initial quality assessment. Python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were then used for preparation, exploratory analysis and visualization.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 was used to answer business questions in a structured way and to deepen the analysis beyond simple descriptive charts.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then converted the validated metrics into a management-facing dashboard.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0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lang="en-US" dirty="0"/>
              <a:t>Everyday is the largest segment: 711 customers.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lang="en-US" dirty="0"/>
              <a:t>Premium: 295 • Student: 278 • SME: 216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endParaRPr lang="en-US" dirty="0"/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lang="en-US" dirty="0"/>
              <a:t>The largest segment naturally has more opportunity to generate transaction volume, so segment size was considered when interpreting activity.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29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geographic findings are limited to the locations actually present in the dataset. I did not infer anything about rural or urban populations because that classification is not provided.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4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then translated the validated metrics into the Power BI management view.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dashboard uses six core KPI measures: total customers, total transactions, total transaction value, average transaction value, transaction success rate and risk-review rate.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validated values are 1,500 customers, 12,000 transactions, approximately 560.48 million naira in total transaction value, approximately 46.71 thousand naira average transaction value, a 90.47 percent success rate and a 19.60 percent risk-review rate.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dashboard also covers customer segments, transaction types, channels, trends, status and risk-review patterns, with filters to support exploration.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important point is that Power BI is not a separate analysis. It is the communication layer built from the validated analytical definitions.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3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I transformed the supplied </a:t>
            </a:r>
            <a:r>
              <a:rPr lang="en-US" sz="105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FinTrust</a:t>
            </a: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customer and transaction data into a validated and integrated analytical story.</a:t>
            </a:r>
            <a:b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validated the data, explored the customer and transaction </a:t>
            </a:r>
            <a:r>
              <a:rPr lang="en-US" sz="105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</a:t>
            </a: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used SQL to deepen the analysis, translated the validated metrics into Power BI, and converted the findings into practical recommendations.</a:t>
            </a:r>
            <a:b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strongest overall patterns were very high digital adoption, heavy Mobile App usage, high transaction value concentrated in transfers, a strongly right-skewed transaction amount distribution, and meaningful variation in operational and risk-review rates.</a:t>
            </a:r>
            <a:b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output is therefore not just a collection of charts and queries. It is a reproducible analytical workflow that connects data quality, analysis, validation, dashboard communication and business recommendations.</a:t>
            </a:r>
            <a:b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05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</a:t>
            </a:r>
          </a:p>
          <a:p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4446C-DF8A-471E-B9F0-44182EB159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1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4834913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CF9D40"/>
                </a:solidFill>
              </a:rPr>
              <a:t>FINTRUST DIGITAL BANK</a:t>
            </a:r>
          </a:p>
          <a:p>
            <a:r>
              <a:rPr sz="3400" b="1" dirty="0">
                <a:solidFill>
                  <a:srgbClr val="FFFFFF"/>
                </a:solidFill>
              </a:rPr>
              <a:t>Week </a:t>
            </a:r>
            <a:r>
              <a:rPr lang="en-US" sz="3400" b="1" dirty="0">
                <a:solidFill>
                  <a:srgbClr val="FFFFFF"/>
                </a:solidFill>
              </a:rPr>
              <a:t>4</a:t>
            </a:r>
            <a:r>
              <a:rPr sz="3400" b="1" dirty="0">
                <a:solidFill>
                  <a:srgbClr val="FFFFFF"/>
                </a:solidFill>
              </a:rPr>
              <a:t> Data Analytics
Final Project Presentation</a:t>
            </a:r>
          </a:p>
          <a:p>
            <a:r>
              <a:rPr sz="1500" dirty="0">
                <a:solidFill>
                  <a:srgbClr val="DCE6EB"/>
                </a:solidFill>
              </a:rPr>
              <a:t>Tsholofelo Hope Motlhatlhedi • Data Analytics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8862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From raw customer and transaction data → validated analysis → SQL insights → Power BI management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33D4A648-4E63-7850-866F-D76EBFF34B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62955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404"/>
    </mc:Choice>
    <mc:Fallback>
      <p:transition spd="slow" advTm="614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My contribution to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What I developed, tested, improved, finalized and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721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56231"/>
            <a:ext cx="3108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Profiled customer and transaction datasets; checked </a:t>
            </a:r>
            <a:r>
              <a:rPr lang="en-US" dirty="0"/>
              <a:t>blank spaces</a:t>
            </a:r>
            <a:r>
              <a:rPr dirty="0"/>
              <a:t>, duplicates, IDs, dates and data types; documented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4721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PYTHON / JUPYTER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56231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Built the EDA workflow, visualizations, customer-level integration and evidence-based interpretations.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4721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SQL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56231"/>
            <a:ext cx="3108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Expanded business analysis using joins, grouping, CASE logic,</a:t>
            </a:r>
            <a:r>
              <a:rPr lang="en-US" dirty="0"/>
              <a:t> </a:t>
            </a:r>
            <a:r>
              <a:rPr dirty="0"/>
              <a:t>subqueries and analytical/window functions.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3666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50791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Converted validated metrics into management-facing KPIs, visuals, filters and an integrated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666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BUSINESS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50791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Translated results into findings and practical recommendations rather than reporting numbers alone.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5CB13973-D05F-19CA-3BCB-CDE28D6762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283"/>
    </mc:Choice>
    <mc:Fallback>
      <p:transition spd="slow" advTm="822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End-to-end analytical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The same underlying fields were carried through each stage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19" y="2606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238"/>
                </a:solidFill>
              </a:rPr>
              <a:t>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0632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47482"/>
                </a:solidFill>
              </a:rPr>
              <a:t>Initial quality assessment</a:t>
            </a:r>
          </a:p>
        </p:txBody>
      </p:sp>
      <p:sp>
        <p:nvSpPr>
          <p:cNvPr id="8" name="Chevron 7"/>
          <p:cNvSpPr/>
          <p:nvPr/>
        </p:nvSpPr>
        <p:spPr>
          <a:xfrm>
            <a:off x="2148839" y="1965960"/>
            <a:ext cx="548640" cy="320040"/>
          </a:xfrm>
          <a:prstGeom prst="chevron">
            <a:avLst/>
          </a:prstGeom>
          <a:solidFill>
            <a:srgbClr val="BE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26080" y="1828800"/>
            <a:ext cx="594360" cy="594360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06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238"/>
                </a:solidFill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0632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47482"/>
                </a:solidFill>
              </a:rPr>
              <a:t>Preparation + EDA</a:t>
            </a:r>
          </a:p>
        </p:txBody>
      </p:sp>
      <p:sp>
        <p:nvSpPr>
          <p:cNvPr id="12" name="Chevron 11"/>
          <p:cNvSpPr/>
          <p:nvPr/>
        </p:nvSpPr>
        <p:spPr>
          <a:xfrm>
            <a:off x="4434840" y="1965960"/>
            <a:ext cx="548640" cy="320040"/>
          </a:xfrm>
          <a:prstGeom prst="chevron">
            <a:avLst/>
          </a:prstGeom>
          <a:solidFill>
            <a:srgbClr val="BE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12080" y="1828800"/>
            <a:ext cx="594360" cy="594360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606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238"/>
                </a:solidFill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0632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47482"/>
                </a:solidFill>
              </a:rPr>
              <a:t>Business questions + deeper analysis</a:t>
            </a:r>
          </a:p>
        </p:txBody>
      </p:sp>
      <p:sp>
        <p:nvSpPr>
          <p:cNvPr id="16" name="Chevron 15"/>
          <p:cNvSpPr/>
          <p:nvPr/>
        </p:nvSpPr>
        <p:spPr>
          <a:xfrm>
            <a:off x="6720840" y="1965960"/>
            <a:ext cx="548640" cy="320040"/>
          </a:xfrm>
          <a:prstGeom prst="chevron">
            <a:avLst/>
          </a:prstGeom>
          <a:solidFill>
            <a:srgbClr val="BE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79" y="1828800"/>
            <a:ext cx="594360" cy="594360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2606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238"/>
                </a:solidFill>
              </a:rPr>
              <a:t>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0632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47482"/>
                </a:solidFill>
              </a:rPr>
              <a:t>Validated KPI dashboard</a:t>
            </a:r>
          </a:p>
        </p:txBody>
      </p:sp>
      <p:sp>
        <p:nvSpPr>
          <p:cNvPr id="20" name="Chevron 19"/>
          <p:cNvSpPr/>
          <p:nvPr/>
        </p:nvSpPr>
        <p:spPr>
          <a:xfrm>
            <a:off x="9006840" y="1965960"/>
            <a:ext cx="548640" cy="320040"/>
          </a:xfrm>
          <a:prstGeom prst="chevron">
            <a:avLst/>
          </a:prstGeom>
          <a:solidFill>
            <a:srgbClr val="BE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84080" y="1828800"/>
            <a:ext cx="594360" cy="594360"/>
          </a:xfrm>
          <a:prstGeom prst="ellipse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2606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238"/>
                </a:solidFill>
              </a:rPr>
              <a:t>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06324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47482"/>
                </a:solidFill>
              </a:rPr>
              <a:t>Recommendations + final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8554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INTEGRATION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39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02A34"/>
                </a:solidFill>
              </a:defRPr>
            </a:pPr>
            <a:r>
              <a:t>Customer_ID was the key integration field. KPI definitions were kept consistent so that Python, SQL and Power BI could tell the same story.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AE793AED-0B8B-9BD1-589F-4F944CC87F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290"/>
    </mc:Choice>
    <mc:Fallback>
      <p:transition spd="slow" advTm="64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068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Data validation &amp; quality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Evidence used before deeper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92043" y="122301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1,500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customer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6230" y="1262575"/>
            <a:ext cx="73152" cy="1325880"/>
          </a:xfrm>
          <a:prstGeom prst="rect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28338" y="12115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142238"/>
                </a:solidFill>
              </a:rPr>
              <a:t>12,000</a:t>
            </a:r>
          </a:p>
          <a:p>
            <a:pPr algn="ctr"/>
            <a:r>
              <a:rPr sz="1000" dirty="0">
                <a:solidFill>
                  <a:srgbClr val="647482"/>
                </a:solidFill>
              </a:rPr>
              <a:t>transaction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2525" y="1223010"/>
            <a:ext cx="73152" cy="1325880"/>
          </a:xfrm>
          <a:prstGeom prst="rect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0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duplicate transaction 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73152" cy="132588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0" y="3154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0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unmatched transaction Customer_IDs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154680"/>
            <a:ext cx="73152" cy="132588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3154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192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missing transaction cells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154680"/>
            <a:ext cx="73152" cy="1325880"/>
          </a:xfrm>
          <a:prstGeom prst="rect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221224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MISSINGNESS TREATMENT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0527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02A34"/>
                </a:solidFill>
              </a:defRPr>
            </a:pPr>
            <a:r>
              <a:t>96 Device_Type values and 96 Location values were missing. They were not replaced with invented values; device/location comparisons explicitly excluded missing observations.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B0FCB532-72DB-B510-D6F3-239553E3DA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613"/>
    </mc:Choice>
    <mc:Fallback>
      <p:transition spd="slow" advTm="456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Customer &amp; transaction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What the EDA established about who is active and what they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26463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TRANSACTION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1051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Transfer: 3,549 transactions — the highest transaction count and the highest total transaction value.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Card Purchase: 3,033 transactions.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Deposit has the highest average transaction value: NGN 98,633.33.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7581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TRANSACTION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4223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Total transaction value: NGN 560,477,354.85.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Mean: NGN 46,706.45.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Median: NGN 10,305.94.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The large gap between mean and median confirms a right-skewed distribution where high-value transactions pull the mean upward.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7581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4223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Mobile App is the leading channel with 5,102 transactions and NGN 240.10M in total transaction value.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It is the dominant channel across every customer segment.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7FB3A7-AB53-71A4-533B-658589252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980" y="1382288"/>
            <a:ext cx="4213743" cy="1928355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5ECFC82-5A34-2020-1D44-9B64DAEC5A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136"/>
    </mc:Choice>
    <mc:Fallback>
      <p:transition spd="slow" advTm="83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Operational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Transaction outcomes and month-to-month movement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90.47%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successful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19.60%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risk-review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196.20M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March transaction value (NGN)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73152" cy="1417320"/>
          </a:xfrm>
          <a:prstGeom prst="rect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0098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FAILURE / REVERSAL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85032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USSD has the highest combined failure/reversal rate among channels at 8.66%.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Airtime/Data has the highest combined failure/reversal rate among transaction types at 8.95%.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These are operational investigation signals, not explanations of why transactions failed.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5468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30098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MONTHLY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2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January: 4,133 transactions; NGN 188.49M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February: 3,734 transactions; NGN 175.79M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March: 4,133 transactions; NGN 196.20M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March matched January's volume but produced the highest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F95C9273-1214-602B-8C65-AEC1F98572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015"/>
    </mc:Choice>
    <mc:Fallback>
      <p:transition spd="slow" advTm="98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Customer behaviour &amp; digital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SQL deepened the Python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99.80%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digital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1,497 / 1,500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customers using a defined digital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142238"/>
                </a:solidFill>
              </a:rPr>
              <a:t>0.0380</a:t>
            </a:r>
          </a:p>
          <a:p>
            <a:pPr algn="ctr"/>
            <a:r>
              <a:rPr sz="1000" dirty="0">
                <a:solidFill>
                  <a:srgbClr val="647482"/>
                </a:solidFill>
              </a:rPr>
              <a:t>engagement ↔ transaction-count correlation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73152" cy="1417320"/>
          </a:xfrm>
          <a:prstGeom prst="rect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166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0098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SEGMENT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85032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Everyday generated the largest overall transaction volume because it is the largest segment.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Student customers had the highest average transaction frequency at approximately 8.23 transactions per customer.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Average digital-engagement differences between segments were modest.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54680"/>
            <a:ext cx="5166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30098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2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The 0.0380 correlation is very weak. Higher digital-engagement scores did not translate into substantially higher transaction counts in this dataset.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This prevents the project from making a simplistic 'more engagement = more activity' claim.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F5DE1ADE-87AD-13DD-D609-885D8A9BD6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576"/>
    </mc:Choice>
    <mc:Fallback>
      <p:transition spd="slow" advTm="775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Device &amp; 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SQL added customer counts, transaction share and location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8074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DEVICE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64792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Android: 4,797 transactions • 39.98% of non-missing device transactions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iOS: 2,920 • 24.33%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POS Terminal: 1,571 • 13.09%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Web Browser: 1,447 • 12.06%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ATM Terminal: 1,169 • 9.74%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t>Android is the most common device category. 96 device values were missing and excluded from the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8074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GEOGRAPHIC ACTIVITY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A82A9A-83F3-1A9B-8A18-AD2B9E2C3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7163" y="2167597"/>
            <a:ext cx="1322290" cy="1322290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355080" y="1764792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Ibadan recorded the highest activity among the supplied locations: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1,550 transactions • NGN 81.42M total value.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Kano: 1,526 transactions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Port Harcourt: 1,520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Enugu: 1,484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Kaduna: 1,481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Benin City: 1,451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Abuja: 1,461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Lagos: 1,431</a:t>
            </a:r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50">
                <a:solidFill>
                  <a:srgbClr val="202A34"/>
                </a:solidFill>
              </a:defRPr>
            </a:pPr>
            <a:r>
              <a:rPr dirty="0"/>
              <a:t>Geographic conclusions are limited to the eight locations represented in the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DB93E8-081B-695E-605C-9FE15A96F3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964" y="2449830"/>
            <a:ext cx="1409700" cy="14097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93D87986-3BC4-F5CE-71CE-850DDC0B26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574"/>
    </mc:Choice>
    <mc:Fallback>
      <p:transition spd="slow" advTm="74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Risk-review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A monitoring lens — not a fraud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28.49%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Transfer risk-review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21.35%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Web channel risk-review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21.64%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ATM Terminal risk-review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73152" cy="141732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0098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OTHER HIGHER-RATE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85032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Premium segment: 20.33%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Benin City: 20.68%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Cash Withdrawal: 25.31%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Risk-review rates vary across transaction type, channel, device, segment and 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5468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30098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CONTROLLED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2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Risk_Review_Flag is a synthetic educational label supplied with the dataset.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A higher rate identifies an association worth investigating; it does not establish fraud, suspicious behaviour or causation.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5C6B5D31-14F3-C1C0-DD70-65E7D9EFFD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925"/>
    </mc:Choice>
    <mc:Fallback>
      <p:transition spd="slow" advTm="639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42238"/>
                </a:solidFill>
              </a:rPr>
              <a:t>Power BI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The dashboard turns validated analysis into a management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1,500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Total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280160"/>
          </a:xfrm>
          <a:prstGeom prst="rect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12,000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Total 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73152" cy="1280160"/>
          </a:xfrm>
          <a:prstGeom prst="rect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NGN 560.48M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Total Transaction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73152" cy="1280160"/>
          </a:xfrm>
          <a:prstGeom prst="rect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NGN 46.71K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Average Transaction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73152" cy="1280160"/>
          </a:xfrm>
          <a:prstGeom prst="rect">
            <a:avLst/>
          </a:prstGeom>
          <a:solidFill>
            <a:srgbClr val="CF9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29260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90.47%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Transaction Success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926080"/>
            <a:ext cx="73152" cy="1280160"/>
          </a:xfrm>
          <a:prstGeom prst="rect">
            <a:avLst/>
          </a:prstGeom>
          <a:solidFill>
            <a:srgbClr val="2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238"/>
                </a:solidFill>
              </a:rPr>
              <a:t>19.60%</a:t>
            </a:r>
          </a:p>
          <a:p>
            <a:pPr algn="ctr"/>
            <a:r>
              <a:rPr sz="1000">
                <a:solidFill>
                  <a:srgbClr val="647482"/>
                </a:solidFill>
              </a:rPr>
              <a:t>Risk Review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926080"/>
            <a:ext cx="73152" cy="1280160"/>
          </a:xfrm>
          <a:prstGeom prst="rect">
            <a:avLst/>
          </a:prstGeom>
          <a:solidFill>
            <a:srgbClr val="A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4983480"/>
            <a:ext cx="10332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129784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DASHBOARD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1383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02A34"/>
                </a:solidFill>
              </a:defRPr>
            </a:pPr>
            <a:r>
              <a:t>Customer segments • transaction types • channels • monthly trends • transaction status • risk patterns • slicers/filters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2A8DF28C-AE9A-F8AE-B485-C72BBE47B0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136"/>
    </mc:Choice>
    <mc:Fallback>
      <p:transition spd="slow" advTm="33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DE4403-129F-48B8-40AB-F378995514C5}"/>
              </a:ext>
            </a:extLst>
          </p:cNvPr>
          <p:cNvSpPr txBox="1"/>
          <p:nvPr/>
        </p:nvSpPr>
        <p:spPr>
          <a:xfrm>
            <a:off x="4516069" y="320040"/>
            <a:ext cx="312938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 dirty="0">
                <a:solidFill>
                  <a:srgbClr val="142238"/>
                </a:solidFill>
              </a:rPr>
              <a:t>Power BI 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61CA6-FF0F-2979-07CF-EC00FFE42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1" y="914400"/>
            <a:ext cx="11033759" cy="5516880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FC70D9DB-B8DE-859E-9BC0-45D227D292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92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25"/>
    </mc:Choice>
    <mc:Fallback>
      <p:transition spd="slow" advTm="281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Testing, validation &amp;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What I checked before treating the output as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805B"/>
                </a:solidFill>
              </a:rPr>
              <a:t>DATA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A34"/>
                </a:solidFill>
              </a:defRPr>
            </a:pPr>
            <a:r>
              <a:t>Record counts, missingness, duplicates and join integrity checked.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807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805B"/>
                </a:solidFill>
              </a:rPr>
              <a:t>FIELD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647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A34"/>
                </a:solidFill>
              </a:defRPr>
            </a:pPr>
            <a:r>
              <a:t>Customer_ID used consistently across Excel, Python and SQL joins.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805B"/>
                </a:solidFill>
              </a:rPr>
              <a:t>NUMERIC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A34"/>
                </a:solidFill>
              </a:defRPr>
            </a:pPr>
            <a:r>
              <a:t>Amount_NGN converted/treated numerically; mean, median and totals reconciled.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346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9809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805B"/>
                </a:solidFill>
              </a:rPr>
              <a:t>ANALYTICAL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A34"/>
                </a:solidFill>
              </a:defRPr>
            </a:pPr>
            <a:r>
              <a:t>Python findings compared against SQL aggregations and monthly totals.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811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805B"/>
                </a:solidFill>
              </a:rPr>
              <a:t>DASHBOARD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651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A34"/>
                </a:solidFill>
              </a:defRPr>
            </a:pPr>
            <a:r>
              <a:t>Power BI KPIs were tied to the same underlying fields and definitions.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348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58114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TECHNICAL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651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A34"/>
                </a:solidFill>
              </a:defRPr>
            </a:pPr>
            <a:r>
              <a:t>Jupyter plotting issue was corrected; stale outputs cleared and execution counts reset.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B62FD0B2-F6FC-355B-ABBE-4BD4D92F55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731"/>
    </mc:Choice>
    <mc:Fallback>
      <p:transition spd="slow" advTm="437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What I developed and finalized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Deliverables and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DEVELOPED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64792"/>
            <a:ext cx="3154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Excel data-quality assessment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Python/Jupyter EDA workflow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Customer + transaction integration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SQL business analysis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Deeper SQL analysis patterns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Power BI KPI/dashboard structure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t>• Business insights and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IMPROVED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64792"/>
            <a:ext cx="315468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Corrected notebook file-loading logic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Removed stale notebook error outputs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Stabilized visualizations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Kept missing values transparent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Separated association from causation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64792"/>
            <a:ext cx="3154680" cy="1705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Final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SQL analysis file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Power BI dashboard/model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Validated KPI set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Findings and recommendations</a:t>
            </a:r>
          </a:p>
          <a:p>
            <a:pPr>
              <a:spcAft>
                <a:spcPts val="500"/>
              </a:spcAft>
              <a:defRPr sz="1400">
                <a:solidFill>
                  <a:srgbClr val="202A34"/>
                </a:solidFill>
              </a:defRPr>
            </a:pPr>
            <a:r>
              <a:rPr dirty="0"/>
              <a:t>• Final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4AEA093E-094E-D5F2-26AB-8B97BD240F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157"/>
    </mc:Choice>
    <mc:Fallback>
      <p:transition spd="slow" advTm="501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Actions supported by the evidence — not assumptions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43000"/>
            <a:ext cx="438912" cy="438912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1556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238"/>
                </a:solidFill>
              </a:rPr>
              <a:t>Prioritise mobile-first service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115568"/>
            <a:ext cx="6720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A34"/>
                </a:solidFill>
              </a:rPr>
              <a:t>Mobile App leads transaction volume and total channel value. Continue improving reliability, usability and customer journeys there.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84248"/>
            <a:ext cx="438912" cy="438912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56816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42238"/>
                </a:solidFill>
              </a:rPr>
              <a:t>Investigate transfer-related risk-review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56816"/>
            <a:ext cx="6720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A34"/>
                </a:solidFill>
              </a:rPr>
              <a:t>Transfer has the highest transaction-type risk-review rate (28.49%). Review underlying characteristics before changing controls.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25496"/>
            <a:ext cx="438912" cy="438912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98064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42238"/>
                </a:solidFill>
              </a:rPr>
              <a:t>Investigate USSD operational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98064"/>
            <a:ext cx="6720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A34"/>
                </a:solidFill>
              </a:rPr>
              <a:t>USSD has the highest combined failure/reversal rate (8.66%). Examine failure causes, customer journeys and service availability.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66744"/>
            <a:ext cx="438912" cy="438912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39312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238"/>
                </a:solidFill>
              </a:rPr>
              <a:t>Monitor high-value transaction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39312"/>
            <a:ext cx="6720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A34"/>
                </a:solidFill>
              </a:rPr>
              <a:t>Deposits have the highest average transaction value (NGN 98,633.33), while transfers generate the highest total value.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507992"/>
            <a:ext cx="438912" cy="438912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5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42238"/>
                </a:solidFill>
              </a:rPr>
              <a:t>Improve device/location data 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80559"/>
            <a:ext cx="6720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A34"/>
                </a:solidFill>
              </a:rPr>
              <a:t>Missing Device_Type and Location each affect 96 transactions. Better capture would strengthen device and geographic monitoring.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349240"/>
            <a:ext cx="438912" cy="438912"/>
          </a:xfrm>
          <a:prstGeom prst="ellipse">
            <a:avLst/>
          </a:prstGeom>
          <a:solidFill>
            <a:srgbClr val="19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21808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238"/>
                </a:solidFill>
              </a:rPr>
              <a:t>Extend the observation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321808"/>
            <a:ext cx="6720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02A34"/>
                </a:solidFill>
              </a:rPr>
              <a:t>The analysis covers Jan–Mar 2026. Longer history would improve seasonality, trend and stability assessment.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dirty="0">
                <a:solidFill>
                  <a:srgbClr val="647482"/>
                </a:solidFill>
              </a:rPr>
              <a:t>Source: </a:t>
            </a:r>
            <a:r>
              <a:rPr sz="750" dirty="0" err="1">
                <a:solidFill>
                  <a:srgbClr val="647482"/>
                </a:solidFill>
              </a:rPr>
              <a:t>FinTrust</a:t>
            </a:r>
            <a:r>
              <a:rPr sz="750" dirty="0">
                <a:solidFill>
                  <a:srgbClr val="647482"/>
                </a:solidFill>
              </a:rPr>
              <a:t> Excel validation • Python/</a:t>
            </a:r>
            <a:r>
              <a:rPr sz="750" dirty="0" err="1">
                <a:solidFill>
                  <a:srgbClr val="647482"/>
                </a:solidFill>
              </a:rPr>
              <a:t>Jupyter</a:t>
            </a:r>
            <a:r>
              <a:rPr sz="750" dirty="0">
                <a:solidFill>
                  <a:srgbClr val="647482"/>
                </a:solidFill>
              </a:rPr>
              <a:t> EDA • PostgreSQL SQL • Power BI model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EDF3A6B0-9A2F-6B24-755B-BAA0257F15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457"/>
    </mc:Choice>
    <mc:Fallback>
      <p:transition spd="slow" advTm="274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Limitations &amp; analytical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What the results do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Observation period is January–March 2026; results are not a full-year view.</a:t>
            </a:r>
          </a:p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96 Device_Type values and 96 Location values are missing; device/location comparisons exclude those records.</a:t>
            </a:r>
          </a:p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Geographic conclusions are limited to the locations represented in the supplied dataset.</a:t>
            </a:r>
          </a:p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Monthly income is supplied as bands, so it is treated as categorical/ordinal rather than exact income.</a:t>
            </a:r>
          </a:p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Risk_Review_Flag is synthetic and should not be described as proof of fraud or wrongdoing.</a:t>
            </a:r>
          </a:p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Correlation and visual patterns show association, not causation.</a:t>
            </a:r>
          </a:p>
          <a:p>
            <a:pPr>
              <a:spcAft>
                <a:spcPts val="1000"/>
              </a:spcAft>
              <a:defRPr sz="1600">
                <a:solidFill>
                  <a:srgbClr val="202A34"/>
                </a:solidFill>
              </a:defRPr>
            </a:pPr>
            <a:r>
              <a:t>• Transaction volume and customer adoption are deliberately treated as different measures.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647482"/>
                </a:solidFill>
              </a:rPr>
              <a:t>Source: FinTrust Excel validation • Python/Jupyter EDA • PostgreSQL SQL • Power BI model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1ED68E2A-0985-8D7F-7645-4700BD65A5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749"/>
    </mc:Choice>
    <mc:Fallback>
      <p:transition spd="slow" advTm="41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238"/>
                </a:solidFill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2"/>
                </a:solidFill>
              </a:rPr>
              <a:t>What changed in my analytical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26463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DATA QUALITY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1051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02A34"/>
                </a:solidFill>
              </a:defRPr>
            </a:pPr>
            <a:r>
              <a:t>I learned that analysis is only as reliable as the validation underneath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801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426463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COUNT ≠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02A34"/>
                </a:solidFill>
              </a:defRPr>
            </a:pPr>
            <a:r>
              <a:t>I learned to distinguish transaction volume from unique-customer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426463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MEAN ≠ TYPICAL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1051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02A34"/>
                </a:solidFill>
              </a:defRPr>
            </a:pPr>
            <a:r>
              <a:t>I learned why skewed financial data requires both mean and median.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SQL IS 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0507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02A34"/>
                </a:solidFill>
              </a:defRPr>
            </a:pPr>
            <a:r>
              <a:t>I learned to use SQL not just to retrieve rows, but to answer structured business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7578"/>
                </a:solidFill>
              </a:rPr>
              <a:t>DASHBOARDS NEED DEFINITIONS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0507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02A34"/>
                </a:solidFill>
              </a:defRPr>
            </a:pPr>
            <a:r>
              <a:t>I learned that KPI consistency matters more than visual complexity.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F9D40"/>
                </a:solidFill>
              </a:rPr>
              <a:t>ASSOCIATION NEEDS 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0507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02A34"/>
                </a:solidFill>
              </a:defRPr>
            </a:pPr>
            <a:r>
              <a:t>I learned to describe patterns without turning them into causal or fraud claims.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647482"/>
                </a:solidFill>
              </a:rPr>
              <a:t>Source: FinTrust Excel validation • Python/Jupyter EDA • PostgreSQL SQL • Power BI model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187C3662-29FA-ED34-52A0-958593AE0F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618"/>
    </mc:Choice>
    <mc:Fallback>
      <p:transition spd="slow" advTm="296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017" y="2880360"/>
            <a:ext cx="316682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2D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9C44E340-98AD-784F-24BD-4457AD500A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60"/>
    </mc:Choice>
    <mc:Fallback>
      <p:transition spd="slow" advTm="13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2093</Words>
  <Application>Microsoft Office PowerPoint</Application>
  <PresentationFormat>Widescreen</PresentationFormat>
  <Paragraphs>258</Paragraphs>
  <Slides>17</Slides>
  <Notes>7</Notes>
  <HiddenSlides>0</HiddenSlides>
  <MMClips>17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Hope</dc:creator>
  <cp:keywords/>
  <dc:description>generated using python-pptx</dc:description>
  <cp:lastModifiedBy>hope motlhatlhedi</cp:lastModifiedBy>
  <cp:revision>5</cp:revision>
  <dcterms:created xsi:type="dcterms:W3CDTF">2013-01-27T09:14:16Z</dcterms:created>
  <dcterms:modified xsi:type="dcterms:W3CDTF">2026-10-06T18:52:38Z</dcterms:modified>
  <cp:category/>
</cp:coreProperties>
</file>